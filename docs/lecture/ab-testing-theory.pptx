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2.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3.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4.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charts/chart5.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charts/chart6.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fe4b1759-7788-53c5-34b6-f1100de30a25}">
          <p14:sldIdLst>
            <p14:sldId id="256"/>
            <p14:sldId id="257"/>
            <p14:sldId id="258"/>
          </p14:sldIdLst>
        </p14:section>
        <p14:section name="Ch1 실험과 인과추론" id="{521837f7-90dc-1df0-8339-dc97f99f57a5}">
          <p14:sldIdLst>
            <p14:sldId id="259"/>
            <p14:sldId id="260"/>
            <p14:sldId id="261"/>
            <p14:sldId id="262"/>
            <p14:sldId id="263"/>
            <p14:sldId id="264"/>
            <p14:sldId id="265"/>
            <p14:sldId id="266"/>
            <p14:sldId id="267"/>
            <p14:sldId id="268"/>
          </p14:sldIdLst>
        </p14:section>
        <p14:section name="Ch2 설계 구성요소" id="{87287b71-bdc5-44ef-8c36-e042ad863744}">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h3 실행과 분석" id="{33e9ee0f-3d0f-12e8-65fb-6610d8aaf3d1}">
          <p14:sldIdLst>
            <p14:sldId id="292"/>
            <p14:sldId id="293"/>
            <p14:sldId id="294"/>
            <p14:sldId id="295"/>
            <p14:sldId id="296"/>
            <p14:sldId id="297"/>
            <p14:sldId id="298"/>
            <p14:sldId id="299"/>
            <p14:sldId id="300"/>
            <p14:sldId id="301"/>
            <p14:sldId id="302"/>
            <p14:sldId id="303"/>
            <p14:sldId id="305"/>
          </p14:sldIdLst>
        </p14:section>
        <p14:section name="Ch4 함정과 고급 설계" id="{4d685e8d-e187-6382-4e0e-5ffc4f71fa56}">
          <p14:sldIdLst>
            <p14:sldId id="304"/>
            <p14:sldId id="306"/>
            <p14:sldId id="307"/>
            <p14:sldId id="308"/>
            <p14:sldId id="309"/>
            <p14:sldId id="310"/>
            <p14:sldId id="311"/>
            <p14:sldId id="312"/>
          </p14:sldIdLst>
        </p14:section>
        <p14:section name="Ch5 사례와 결정" id="{f9800383-c8b1-8aa8-cb16-1efa884e838a}">
          <p14:sldIdLst>
            <p14:sldId id="313"/>
            <p14:sldId id="314"/>
            <p14:sldId id="315"/>
            <p14:sldId id="316"/>
            <p14:sldId id="317"/>
            <p14:sldId id="318"/>
            <p14:sldId id="319"/>
            <p14:sldId id="320"/>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타임박싱이 중요합니다. Ch2와 Ch3가 각각 20분으로 가장 깁니다. 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04편: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05편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스위치백은 배달·라이드쉐어처럼 시장 전체가 엮일 때, 클러스터는 사용자끼리 영향을 주고받을 때, 인터리빙은 랭킹을 비교할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Udacity 강의를 메인으로, 나머지는 토픽별로 참고합니다.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이론 파트 · DA 트랙 · 75분</a:t>
            </a:r>
            <a:endParaRPr lang="en-US" sz="2000" dirty="0"/>
          </a:p>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13" name="Text 10"/>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DA 트랙의 흐름을 이 세션이 하나의 의사결정으로 닫습니다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75분 동안 다룰 다섯 장</a:t>
            </a:r>
            <a:endParaRPr lang="en-US" sz="2000" dirty="0"/>
          </a:p>
        </p:txBody>
      </p:sp>
      <p:sp>
        <p:nvSpPr>
          <p:cNvPr id="5" name="Text 2"/>
          <p:cNvSpPr txBox="1"/>
          <p:nvPr/>
        </p:nvSpPr>
        <p:spPr>
          <a:xfrm>
            <a:off x="640080" y="2103120"/>
            <a:ext cx="1675620"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1675620" cy="0"/>
          </a:xfrm>
          <a:prstGeom prst="line">
            <a:avLst/>
          </a:prstGeom>
          <a:noFill/>
          <a:ln w="76200">
            <a:solidFill>
              <a:srgbClr val="3A5BFF"/>
            </a:solidFill>
            <a:prstDash val="solid"/>
          </a:ln>
        </p:spPr>
      </p:sp>
      <p:sp>
        <p:nvSpPr>
          <p:cNvPr id="7" name="Text 4"/>
          <p:cNvSpPr txBox="1"/>
          <p:nvPr/>
        </p:nvSpPr>
        <p:spPr>
          <a:xfrm>
            <a:off x="640080" y="3337560"/>
            <a:ext cx="1675620" cy="365760"/>
          </a:xfrm>
          <a:prstGeom prst="rect">
            <a:avLst/>
          </a:prstGeom>
          <a:noFill/>
          <a:ln/>
        </p:spPr>
        <p:txBody>
          <a:bodyPr wrap="square" lIns="0" tIns="0" rIns="0" bIns="0" rtlCol="0" anchor="t"/>
          <a:lstStyle/>
          <a:p>
            <a:pPr indent="0" marL="0">
              <a:buNone/>
            </a:pPr>
            <a:r>
              <a:rPr lang="en-US" sz="1400" dirty="0">
                <a:solidFill>
                  <a:schemeClr val="tx2"/>
                </a:solidFill>
              </a:rPr>
              <a:t>12분</a:t>
            </a:r>
            <a:endParaRPr lang="en-US" sz="1400" dirty="0"/>
          </a:p>
        </p:txBody>
      </p:sp>
      <p:sp>
        <p:nvSpPr>
          <p:cNvPr id="8" name="Text 5"/>
          <p:cNvSpPr txBox="1"/>
          <p:nvPr/>
        </p:nvSpPr>
        <p:spPr>
          <a:xfrm>
            <a:off x="2425428"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9" name="Shape 6"/>
          <p:cNvSpPr/>
          <p:nvPr/>
        </p:nvSpPr>
        <p:spPr>
          <a:xfrm>
            <a:off x="2425428" y="3154680"/>
            <a:ext cx="2792700" cy="0"/>
          </a:xfrm>
          <a:prstGeom prst="line">
            <a:avLst/>
          </a:prstGeom>
          <a:noFill/>
          <a:ln w="76200">
            <a:solidFill>
              <a:srgbClr val="3A5BFF"/>
            </a:solidFill>
            <a:prstDash val="solid"/>
          </a:ln>
        </p:spPr>
      </p:sp>
      <p:sp>
        <p:nvSpPr>
          <p:cNvPr id="10" name="Text 7"/>
          <p:cNvSpPr txBox="1"/>
          <p:nvPr/>
        </p:nvSpPr>
        <p:spPr>
          <a:xfrm>
            <a:off x="2425428"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1" name="Text 8"/>
          <p:cNvSpPr txBox="1"/>
          <p:nvPr/>
        </p:nvSpPr>
        <p:spPr>
          <a:xfrm>
            <a:off x="5327855"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2" name="Shape 9"/>
          <p:cNvSpPr/>
          <p:nvPr/>
        </p:nvSpPr>
        <p:spPr>
          <a:xfrm>
            <a:off x="5327855" y="3154680"/>
            <a:ext cx="2792700" cy="0"/>
          </a:xfrm>
          <a:prstGeom prst="line">
            <a:avLst/>
          </a:prstGeom>
          <a:noFill/>
          <a:ln w="76200">
            <a:solidFill>
              <a:srgbClr val="3A5BFF"/>
            </a:solidFill>
            <a:prstDash val="solid"/>
          </a:ln>
        </p:spPr>
      </p:sp>
      <p:sp>
        <p:nvSpPr>
          <p:cNvPr id="13" name="Text 10"/>
          <p:cNvSpPr txBox="1"/>
          <p:nvPr/>
        </p:nvSpPr>
        <p:spPr>
          <a:xfrm>
            <a:off x="5327855"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4" name="Text 11"/>
          <p:cNvSpPr txBox="1"/>
          <p:nvPr/>
        </p:nvSpPr>
        <p:spPr>
          <a:xfrm>
            <a:off x="823028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5" name="Shape 12"/>
          <p:cNvSpPr/>
          <p:nvPr/>
        </p:nvSpPr>
        <p:spPr>
          <a:xfrm>
            <a:off x="8230283" y="3154680"/>
            <a:ext cx="2094525" cy="0"/>
          </a:xfrm>
          <a:prstGeom prst="line">
            <a:avLst/>
          </a:prstGeom>
          <a:noFill/>
          <a:ln w="76200">
            <a:solidFill>
              <a:srgbClr val="3A5BFF"/>
            </a:solidFill>
            <a:prstDash val="solid"/>
          </a:ln>
        </p:spPr>
      </p:sp>
      <p:sp>
        <p:nvSpPr>
          <p:cNvPr id="16" name="Text 13"/>
          <p:cNvSpPr txBox="1"/>
          <p:nvPr/>
        </p:nvSpPr>
        <p:spPr>
          <a:xfrm>
            <a:off x="8230283" y="3337560"/>
            <a:ext cx="2094525" cy="365760"/>
          </a:xfrm>
          <a:prstGeom prst="rect">
            <a:avLst/>
          </a:prstGeom>
          <a:noFill/>
          <a:ln/>
        </p:spPr>
        <p:txBody>
          <a:bodyPr wrap="square" lIns="0" tIns="0" rIns="0" bIns="0" rtlCol="0" anchor="t"/>
          <a:lstStyle/>
          <a:p>
            <a:pPr indent="0" marL="0">
              <a:buNone/>
            </a:pPr>
            <a:r>
              <a:rPr lang="en-US" sz="1400" dirty="0">
                <a:solidFill>
                  <a:schemeClr val="tx2"/>
                </a:solidFill>
              </a:rPr>
              <a:t>15분</a:t>
            </a:r>
            <a:endParaRPr lang="en-US" sz="1400" dirty="0"/>
          </a:p>
        </p:txBody>
      </p:sp>
      <p:sp>
        <p:nvSpPr>
          <p:cNvPr id="17" name="Text 14"/>
          <p:cNvSpPr txBox="1"/>
          <p:nvPr/>
        </p:nvSpPr>
        <p:spPr>
          <a:xfrm>
            <a:off x="10434535" y="2103120"/>
            <a:ext cx="1371600"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8" name="Shape 15"/>
          <p:cNvSpPr/>
          <p:nvPr/>
        </p:nvSpPr>
        <p:spPr>
          <a:xfrm>
            <a:off x="10434535" y="3154680"/>
            <a:ext cx="1117080" cy="0"/>
          </a:xfrm>
          <a:prstGeom prst="line">
            <a:avLst/>
          </a:prstGeom>
          <a:noFill/>
          <a:ln w="76200">
            <a:solidFill>
              <a:srgbClr val="3A5BFF"/>
            </a:solidFill>
            <a:prstDash val="solid"/>
          </a:ln>
        </p:spPr>
      </p:sp>
      <p:sp>
        <p:nvSpPr>
          <p:cNvPr id="19" name="Text 16"/>
          <p:cNvSpPr txBox="1"/>
          <p:nvPr/>
        </p:nvSpPr>
        <p:spPr>
          <a:xfrm>
            <a:off x="10434535" y="3337560"/>
            <a:ext cx="1117080" cy="365760"/>
          </a:xfrm>
          <a:prstGeom prst="rect">
            <a:avLst/>
          </a:prstGeom>
          <a:noFill/>
          <a:ln/>
        </p:spPr>
        <p:txBody>
          <a:bodyPr wrap="square" lIns="0" tIns="0" rIns="0" bIns="0" rtlCol="0" anchor="t"/>
          <a:lstStyle/>
          <a:p>
            <a:pPr indent="0" marL="0">
              <a:buNone/>
            </a:pPr>
            <a:r>
              <a:rPr lang="en-US" sz="1400" dirty="0">
                <a:solidFill>
                  <a:schemeClr val="tx2"/>
                </a:solidFill>
              </a:rPr>
              <a:t>8분</a:t>
            </a:r>
            <a:endParaRPr lang="en-US" sz="1400" dirty="0"/>
          </a:p>
        </p:txBody>
      </p:sp>
      <p:sp>
        <p:nvSpPr>
          <p:cNvPr id="20" name="Text 17"/>
          <p:cNvSpPr txBox="1"/>
          <p:nvPr/>
        </p:nvSpPr>
        <p:spPr>
          <a:xfrm>
            <a:off x="640080" y="4297680"/>
            <a:ext cx="9601200" cy="1280160"/>
          </a:xfrm>
          <a:prstGeom prst="rect">
            <a:avLst/>
          </a:prstGeom>
          <a:noFill/>
          <a:ln/>
        </p:spPr>
        <p:txBody>
          <a:bodyPr wrap="square" lIns="0" tIns="0" rIns="0" bIns="0" rtlCol="0" anchor="t"/>
          <a:lstStyle/>
          <a:p>
            <a:pPr indent="0" marL="0">
              <a:buNone/>
            </a:pPr>
            <a:r>
              <a:rPr lang="en-US" sz="2000" b="1" dirty="0">
                <a:solidFill>
                  <a:schemeClr val="tx1"/>
                </a:solidFill>
              </a:rPr>
              <a:t>통계는 도구, 무게중심은 설계와 해석</a:t>
            </a:r>
            <a:endParaRPr lang="en-US" sz="1500" dirty="0"/>
          </a:p>
          <a:p>
            <a:pPr indent="0" marL="0">
              <a:buNone/>
            </a:pPr>
            <a:r>
              <a:rPr lang="en-US" sz="1500" dirty="0">
                <a:solidFill>
                  <a:schemeClr val="tx2"/>
                </a:solidFill>
              </a:rPr>
              <a:t>수식 유도 대신 "그래서 배포할까?"로 번역하는 연습을 합니다. 이어서 실습 75분, 함정·해석·공유 30분이 진행됩니다.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12분 · 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 (교육용 예시 수치)</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비교는 </a:t>
            </a:r>
            <a:pPr indent="0" marL="0">
              <a:buNone/>
            </a:pPr>
            <a:r>
              <a:rPr lang="en-US" sz="2000" b="1" dirty="0">
                <a:solidFill>
                  <a:schemeClr val="accent4"/>
                </a:solidFill>
              </a:rPr>
              <a:t>무엇 때문에</a:t>
            </a:r>
            <a:pPr indent="0" marL="0">
              <a:buNone/>
            </a:pPr>
            <a:r>
              <a:rPr lang="en-US" sz="2000" dirty="0">
                <a:solidFill>
                  <a:schemeClr val="tx1"/>
                </a:solidFill>
              </a:rPr>
              <a:t> 올랐는지 분리하지 못합니다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문제(Fundamental Problem of Causal Inference)입니다. 대신 집단의 평균 차이를 봅니다.</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배정을 하면 두 그룹의 평균 차이가 이 값을 편향 없이 추정합니다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아이디어의 가치는 미리 알기 어렵다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6개월 넘게 미뤄졌던 아이디어. 사용자당 세션 수·이용량·관련성은 나빠지지 않았습니다</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04편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A/B 테스트 = 온라인 통제 실험(Online Controlled Experiment). A/B/n, 분할 테스트, 버킷 테스트, 플라이트라고도 부릅니다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12" name="Text 9"/>
          <p:cNvSpPr txBox="1"/>
          <p:nvPr/>
        </p:nvSpPr>
        <p:spPr>
          <a:xfrm>
            <a:off x="8924544" y="3794760"/>
            <a:ext cx="2606040" cy="1645920"/>
          </a:xfrm>
          <a:prstGeom prst="rect">
            <a:avLst/>
          </a:prstGeom>
          <a:noFill/>
          <a:ln/>
        </p:spPr>
        <p:txBody>
          <a:bodyPr wrap="square" lIns="0" tIns="0" rIns="0" bIns="0" rtlCol="0" anchor="t"/>
          <a:lstStyle/>
          <a:p>
            <a:pPr indent="0" marL="0">
              <a:buNone/>
            </a:pPr>
            <a:r>
              <a:rPr lang="en-US" sz="3000" b="1" dirty="0">
                <a:solidFill>
                  <a:schemeClr val="accent1"/>
                </a:solidFill>
              </a:rPr>
              <a:t>50 : 50</a:t>
            </a:r>
            <a:pPr indent="0" marL="0">
              <a:buNone/>
            </a:pPr>
            <a:endParaRPr lang="en-US" sz="1500" dirty="0"/>
          </a:p>
          <a:p>
            <a:pPr indent="0" marL="0">
              <a:buNone/>
            </a:pPr>
            <a:r>
              <a:rPr lang="en-US" sz="1400" dirty="0">
                <a:solidFill>
                  <a:schemeClr val="tx2"/>
                </a:solidFill>
              </a:rPr>
              <a:t>가장 단순한 예일 뿐, 다른 비율로도 배정할 수 있습니다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엄격하게 통제할수록 내적 타당성은 오르지만 현실과는 멀어집니다. 그래서 단계적으로 확보합니다</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indent="0" marL="0">
              <a:buNone/>
            </a:pPr>
            <a:r>
              <a:rPr lang="en-US" sz="1500" dirty="0">
                <a:solidFill>
                  <a:schemeClr val="tx2"/>
                </a:solidFill>
              </a:rPr>
              <a:t>A/B 테스트는 "무엇을 바꿨을 때 이 지표가 얼마나 달라졌나"를 비교합니다. 지표와 구간까지 좁혀야 바꿀 곳이 보이고, 엉뚱한 Treatment를 실험하지 않습니다.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전환율이 올라도 무엇 때문인지 알 수 없습니다</a:t>
            </a:r>
            <a:endParaRPr lang="en-US" sz="1500" dirty="0"/>
          </a:p>
          <a:p>
            <a:pPr indent="0" marL="0">
              <a:buNone/>
            </a:pPr>
            <a:r>
              <a:rPr lang="en-US" sz="1500" b="1" dirty="0">
                <a:solidFill>
                  <a:schemeClr val="accent1"/>
                </a:solidFill>
              </a:rPr>
              <a:t>그래서</a:t>
            </a:r>
            <a:endParaRPr lang="en-US" sz="1500" dirty="0"/>
          </a:p>
          <a:p>
            <a:pPr indent="0" marL="0">
              <a:buNone/>
            </a:pPr>
            <a:r>
              <a:rPr lang="en-US" sz="2000" b="1" dirty="0">
                <a:solidFill>
                  <a:schemeClr val="tx1"/>
                </a:solidFill>
              </a:rPr>
              <a:t>검증하려는 핵심 변화 하나를 대조군과의 유일한 차이로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바꾼 것과 지표 사이에 이 연결이 설명되어야 합니다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대상도, 이유도, 지표도 없어 어떤 결과가 나와도 '틀렸다'고 말할 수 없습니다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H0와 H1: 우연이라고 보기 어려운가</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임시로 참이라 두고, 그 아래에서 지금 데이터가 얼마나 드문지를 잽니다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하지만 결과 1만 "나빠지지 않았다"고 말할 수 있습니다. 마진은 실험 전에 비즈니스와 합의합니다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84632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하나를 권장합니다. 검색처럼 품질·사용량·광고 수익의 균형이 필요하면, 여러 지표를 실험 전에 정한 범위와 가중치로 조합합니다</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지표가 목표가 되면 더 이상 좋은 지표가 아니다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CTR을 최대화하자"가 목표가 되면, 측정값은 좋아져도 그 숫자가 대변하던 가치는 나빠질 수 있습니다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원하는 가치를 대신 재는 숫자입니다</a:t>
            </a:r>
            <a:endParaRPr lang="en-US" sz="1500" dirty="0"/>
          </a:p>
          <a:p>
            <a:pPr indent="0" marL="0">
              <a:spcAft>
                <a:spcPts val="400"/>
              </a:spcAft>
              <a:buNone/>
            </a:pPr>
            <a:r>
              <a:rPr lang="en-US" sz="2000" b="1" dirty="0">
                <a:solidFill>
                  <a:schemeClr val="tx1"/>
                </a:solidFill>
              </a:rPr>
              <a:t>통계적 유의성의 한계</a:t>
            </a:r>
            <a:endParaRPr lang="en-US" sz="1500" dirty="0"/>
          </a:p>
          <a:p>
            <a:pPr indent="0" marL="0">
              <a:buNone/>
            </a:pPr>
            <a:r>
              <a:rPr lang="en-US" sz="1500" dirty="0">
                <a:solidFill>
                  <a:schemeClr val="tx2"/>
                </a:solidFill>
              </a:rPr>
              <a:t>유의하다는 결과가 지표 선택이 옳았다는 것까지 보장하지는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"취소율이 정한 수준 이상 나빠지면 배포하지 않는다"를 실험 전에 정해 둡니다</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사전에 정하지 않은 지표를 보면 안 된다는 뜻은 아닙니다. 나중에 발견한 패턴은 탐색적 결과로 구분합니다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시작하고, 다른 단위를 쓸 때는 이유를 설명할 수 있어야 한다. 배정 단위와 분석 단위가 다르면 분산을 보정한다 (Delta Method,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사용자를 무엇으로 알아볼까: 식별자는 사람의 근사치다</a:t>
            </a:r>
            <a:endParaRPr lang="en-US" sz="2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어떤 식별자도 사람을 완벽히 대표하지 못합니다. 실험 전에 무엇으로 배정할지 정하고, 식별자 로그는 개인정보로 다룹니다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실험 전체 영향은 트리거 효과 × 트리거 비율로 환산해 보고합니다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A/A, 램프업, 기간, 검정, 구간, 분산 축소</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감지</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각 단계로 넘어가는 기준(에러율, 가드레일)을 실험 전에 정해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 테스트에서 '유의'가 나오는 정상 빈도 (α = 5%)</a:t>
            </a:r>
            <a:endParaRPr lang="en-US" sz="1500" dirty="0"/>
          </a:p>
          <a:p>
            <a:pPr indent="0" marL="0">
              <a:buNone/>
            </a:pPr>
            <a:r>
              <a:rPr lang="en-US" sz="1500" dirty="0">
                <a:solidFill>
                  <a:schemeClr val="tx2"/>
                </a:solidFill>
              </a:rPr>
              <a:t>이보다 훨씬 많으면 실험 시스템을 의심합니다</a:t>
            </a:r>
            <a:endParaRPr lang="en-US" sz="1500" dirty="0"/>
          </a:p>
        </p:txBody>
      </p:sp>
      <p:sp>
        <p:nvSpPr>
          <p:cNvPr id="7" name="Text 4"/>
          <p:cNvSpPr txBox="1"/>
          <p:nvPr/>
        </p:nvSpPr>
        <p:spPr>
          <a:xfrm>
            <a:off x="6858000" y="1920240"/>
            <a:ext cx="4663440" cy="292608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A/A로 확인하는 것</a:t>
            </a:r>
            <a:endParaRPr lang="en-US" sz="1500" dirty="0"/>
          </a:p>
          <a:p>
            <a:pPr marL="342900" indent="-342900">
              <a:spcAft>
                <a:spcPts val="800"/>
              </a:spcAft>
              <a:buSzPct val="100000"/>
              <a:buChar char="•"/>
            </a:pPr>
            <a:r>
              <a:rPr lang="en-US" sz="1500" dirty="0">
                <a:solidFill>
                  <a:schemeClr val="tx1"/>
                </a:solidFill>
              </a:rPr>
              <a:t>배정 비율이 설계대로인가 (SRM)</a:t>
            </a:r>
            <a:endParaRPr lang="en-US" sz="1500" dirty="0"/>
          </a:p>
          <a:p>
            <a:pPr marL="342900" indent="-342900">
              <a:spcAft>
                <a:spcPts val="800"/>
              </a:spcAft>
              <a:buSzPct val="100000"/>
              <a:buChar char="•"/>
            </a:pPr>
            <a:r>
              <a:rPr lang="en-US" sz="1500" dirty="0">
                <a:solidFill>
                  <a:schemeClr val="tx1"/>
                </a:solidFill>
              </a:rPr>
              <a:t>p-value가 0~1에 고르게 퍼지는가</a:t>
            </a:r>
            <a:endParaRPr lang="en-US" sz="1500" dirty="0"/>
          </a:p>
          <a:p>
            <a:pPr marL="342900" indent="-342900">
              <a:spcAft>
                <a:spcPts val="800"/>
              </a:spcAft>
              <a:buSzPct val="100000"/>
              <a:buChar char="•"/>
            </a:pPr>
            <a:r>
              <a:rPr lang="en-US" sz="1500" dirty="0">
                <a:solidFill>
                  <a:schemeClr val="tx1"/>
                </a:solidFill>
              </a:rPr>
              <a:t>로그가 두 그룹에서 똑같이 쌓이는가</a:t>
            </a:r>
            <a:endParaRPr lang="en-US" sz="1500" dirty="0"/>
          </a:p>
          <a:p>
            <a:pPr marL="342900" indent="-342900">
              <a:spcAft>
                <a:spcPts val="800"/>
              </a:spcAft>
              <a:buSzPct val="100000"/>
              <a:buChar char="•"/>
            </a:pPr>
            <a:r>
              <a:rPr lang="en-US" sz="1500" dirty="0">
                <a:solidFill>
                  <a:schemeClr val="tx1"/>
                </a:solidFill>
              </a:rPr>
              <a:t>지표의 기저 분산 → 표본 크기 계산에 사용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효과는 신기효과가 섞여 있습니다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6~7일, 13~14일 주말 사용자는 주중과 다릅니다. 완전한 주 단위로 돌립니다</a:t>
            </a:r>
            <a:endParaRPr lang="en-US" sz="1500" dirty="0"/>
          </a:p>
          <a:p>
            <a:pPr indent="0" marL="0">
              <a:buNone/>
            </a:pPr>
            <a:r>
              <a:rPr lang="en-US" sz="2000" b="1" dirty="0">
                <a:solidFill>
                  <a:schemeClr val="tx1"/>
                </a:solidFill>
              </a:rPr>
              <a:t>기간은 미리 정한다</a:t>
            </a:r>
            <a:endParaRPr lang="en-US" sz="1500" dirty="0"/>
          </a:p>
          <a:p>
            <a:pPr indent="0" marL="0">
              <a:buNone/>
            </a:pPr>
            <a:r>
              <a:rPr lang="en-US" sz="1500" dirty="0">
                <a:solidFill>
                  <a:schemeClr val="tx2"/>
                </a:solidFill>
              </a:rPr>
              <a:t>표본 크기 계산 결과로 종료일을 정하고 그 전에 멈추지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공통 3주차에서 배운 z-test를 그대로 씁니다. 새로운 건 '무엇을 비교하느냐'입니다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3492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정도 차이도 p &lt; 0.05가 됩니다. 유의함은 '크다'는 뜻이 아닙니다.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 전 같은 사용자의 지표(X_pre)로 설명되는 변동을 빼고 비교합니다</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α를 지표 수로 나눈다. 단순하지만 보수적</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15분 · 개념만 잡고, 직접 겪는 건 뒤의 함정 세션에서</a:t>
            </a:r>
            <a:endParaRPr lang="en-US" sz="2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Always-Valid p-value: 언제 멈춰도 α 유지. 대신 검정력이 조금 낮다</a:t>
            </a:r>
            <a:endParaRPr lang="en-US" sz="1500" dirty="0"/>
          </a:p>
        </p:txBody>
      </p:sp>
      <p:sp>
        <p:nvSpPr>
          <p:cNvPr id="8" name="Text 5"/>
          <p:cNvSpPr txBox="1"/>
          <p:nvPr/>
        </p:nvSpPr>
        <p:spPr>
          <a:xfrm>
            <a:off x="640080" y="42062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전환율이 낮은 모바일이 B에 80%, A에 20%로 쏠렸습니다</a:t>
            </a:r>
            <a:endParaRPr lang="en-US" sz="1500" dirty="0"/>
          </a:p>
          <a:p>
            <a:pPr indent="0" marL="0">
              <a:buNone/>
            </a:pPr>
            <a:r>
              <a:rPr lang="en-US" sz="2000" b="1" dirty="0">
                <a:solidFill>
                  <a:schemeClr val="tx1"/>
                </a:solidFill>
              </a:rPr>
              <a:t>실험에서는</a:t>
            </a:r>
            <a:endParaRPr lang="en-US" sz="1500" dirty="0"/>
          </a:p>
          <a:p>
            <a:pPr indent="0" marL="0">
              <a:buNone/>
            </a:pPr>
            <a:r>
              <a:rPr lang="en-US" sz="1500" dirty="0">
                <a:solidFill>
                  <a:schemeClr val="tx2"/>
                </a:solidFill>
              </a:rPr>
              <a:t>그룹 간 구성이 다르다는 것 자체가 배정 문제의 신호입니다. 램프업 중 비율을 바꿨을 때도 생깁니다</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680960" y="1920240"/>
            <a:ext cx="3840480" cy="310896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흔한 원인</a:t>
            </a:r>
            <a:endParaRPr lang="en-US" sz="1500" dirty="0"/>
          </a:p>
          <a:p>
            <a:pPr marL="342900" indent="-342900">
              <a:spcAft>
                <a:spcPts val="800"/>
              </a:spcAft>
              <a:buSzPct val="100000"/>
              <a:buChar char="•"/>
            </a:pPr>
            <a:r>
              <a:rPr lang="en-US" sz="1500" dirty="0">
                <a:solidFill>
                  <a:schemeClr val="tx1"/>
                </a:solidFill>
              </a:rPr>
              <a:t>B에만 걸린 리다이렉트·느린 로딩</a:t>
            </a:r>
            <a:endParaRPr lang="en-US" sz="1500" dirty="0"/>
          </a:p>
          <a:p>
            <a:pPr marL="342900" indent="-342900">
              <a:spcAft>
                <a:spcPts val="800"/>
              </a:spcAft>
              <a:buSzPct val="100000"/>
              <a:buChar char="•"/>
            </a:pPr>
            <a:r>
              <a:rPr lang="en-US" sz="1500" dirty="0">
                <a:solidFill>
                  <a:schemeClr val="tx1"/>
                </a:solidFill>
              </a:rPr>
              <a:t>봇 필터가 한쪽에만 다르게 작동</a:t>
            </a:r>
            <a:endParaRPr lang="en-US" sz="1500" dirty="0"/>
          </a:p>
          <a:p>
            <a:pPr marL="342900" indent="-342900">
              <a:spcAft>
                <a:spcPts val="800"/>
              </a:spcAft>
              <a:buSzPct val="100000"/>
              <a:buChar char="•"/>
            </a:pPr>
            <a:r>
              <a:rPr lang="en-US" sz="1500" dirty="0">
                <a:solidFill>
                  <a:schemeClr val="tx1"/>
                </a:solidFill>
              </a:rPr>
              <a:t>한쪽 로그 누락</a:t>
            </a:r>
            <a:endParaRPr lang="en-US" sz="1500" dirty="0"/>
          </a:p>
          <a:p>
            <a:pPr marL="342900" indent="-342900">
              <a:spcAft>
                <a:spcPts val="800"/>
              </a:spcAft>
              <a:buSzPct val="100000"/>
              <a:buChar char="•"/>
            </a:pPr>
            <a:r>
              <a:rPr lang="en-US" sz="1500" dirty="0">
                <a:solidFill>
                  <a:schemeClr val="tx1"/>
                </a:solidFill>
              </a:rPr>
              <a:t>배정 코드 버그, 캐시 문제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"활성 사용자의 체류 시간"이 올랐는데, 사실 덜 쓰던 사람이 B에서 떠났을 수 있다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상황이 다르면 나누는 방법도 다르다</a:t>
            </a:r>
            <a:endParaRPr lang="en-US" sz="2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시장 전체가 엮여 사용자 단위로 못 나눌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지역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배달·라이드쉐어 배차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사용자끼리 영향을 주고받을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 그룹·동네 단위로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메신저, 동네 기반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715000"/>
            <a:ext cx="10911535" cy="365760"/>
          </a:xfrm>
          <a:prstGeom prst="rect">
            <a:avLst/>
          </a:prstGeom>
          <a:noFill/>
          <a:ln/>
        </p:spPr>
        <p:txBody>
          <a:bodyPr wrap="square" lIns="0" tIns="0" rIns="0" bIns="0" rtlCol="0" anchor="t"/>
          <a:lstStyle/>
          <a:p>
            <a:pPr indent="0" marL="0">
              <a:buNone/>
            </a:pPr>
            <a:r>
              <a:rPr lang="en-US" sz="1500" dirty="0">
                <a:solidFill>
                  <a:schemeClr val="tx2"/>
                </a:solidFill>
              </a:rPr>
              <a:t>밴딧은 빨리 이기는 쪽을 찾지만, 효과 크기 추정은 A/B 테스트보다 부정확합니다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8분 · 그리고 의사결정으로 닫기</a:t>
            </a:r>
            <a:endParaRPr lang="en-US" sz="2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Microsoft에서 지표를 개선한 아이디어는 약 3분의 1</a:t>
            </a:r>
            <a:endParaRPr lang="en-US" sz="1500" dirty="0"/>
          </a:p>
          <a:p>
            <a:pPr indent="0" marL="0">
              <a:buNone/>
            </a:pPr>
            <a:r>
              <a:rPr lang="en-US" sz="1400" dirty="0">
                <a:solidFill>
                  <a:schemeClr val="tx2"/>
                </a:solidFill>
              </a:rPr>
              <a:t>잭팟보다 많은 아이디어를 싸게 실험하는 구조가 중요하다</a:t>
            </a:r>
            <a:endParaRPr lang="en-US" sz="1500" dirty="0"/>
          </a:p>
        </p:txBody>
      </p:sp>
      <p:sp>
        <p:nvSpPr>
          <p:cNvPr id="11" name="Text 8"/>
          <p:cNvSpPr txBox="1"/>
          <p:nvPr/>
        </p:nvSpPr>
        <p:spPr>
          <a:xfrm>
            <a:off x="640080" y="49834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팀마다 OEC는 달라도 장기 목표는 같다  </a:t>
            </a:r>
            <a:pPr indent="0" marL="0">
              <a:buNone/>
            </a:pPr>
            <a:r>
              <a:rPr lang="en-US" sz="1500" dirty="0">
                <a:solidFill>
                  <a:schemeClr val="tx1"/>
                </a:solidFill>
              </a:rPr>
              <a:t>검색팀 검색 후 구매율 · 결제팀 결제 완료율 · 배송팀 정시 배송률 → 회사 전체 고객 생애가치(CLV)</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04편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Crawl에서 Fly까지: 실험이 기본 방식이 되기까지</a:t>
            </a:r>
            <a:endParaRPr lang="en-US" sz="2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04편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 Bing의 아이디어도 이 덕분에 쉽게 시험할 수 있었다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정리</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이제 우리 조 사례로 직접 설계하고 돌려봅니다 → 실습 75분</a:t>
            </a:r>
            <a:endParaRPr lang="en-US" sz="2000" dirty="0"/>
          </a:p>
        </p:txBody>
      </p:sp>
      <p:sp>
        <p:nvSpPr>
          <p:cNvPr id="4" name="Text 2"/>
          <p:cNvSpPr txBox="1"/>
          <p:nvPr/>
        </p:nvSpPr>
        <p:spPr>
          <a:xfrm>
            <a:off x="6949440" y="2377440"/>
            <a:ext cx="4754880" cy="27432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더 읽을거리</a:t>
            </a:r>
            <a:endParaRPr lang="en-US" sz="2000" dirty="0"/>
          </a:p>
        </p:txBody>
      </p:sp>
      <p:sp>
        <p:nvSpPr>
          <p:cNvPr id="5" name="Text 2"/>
          <p:cNvSpPr txBox="1"/>
          <p:nvPr/>
        </p:nvSpPr>
        <p:spPr>
          <a:xfrm>
            <a:off x="640080" y="1737360"/>
            <a:ext cx="10911535" cy="4389120"/>
          </a:xfrm>
          <a:prstGeom prst="rect">
            <a:avLst/>
          </a:prstGeom>
          <a:noFill/>
          <a:ln/>
        </p:spPr>
        <p:txBody>
          <a:bodyPr wrap="square" lIns="0" tIns="0" rIns="0" bIns="0" rtlCol="0" anchor="t"/>
          <a:lstStyle/>
          <a:p>
            <a:pPr indent="0" marL="0">
              <a:buNone/>
            </a:pPr>
            <a:r>
              <a:rPr lang="en-US" sz="1400" b="1" dirty="0">
                <a:solidFill>
                  <a:schemeClr val="accent1"/>
                </a:solidFill>
              </a:rPr>
              <a:t>메인 교재</a:t>
            </a:r>
            <a:endParaRPr lang="en-US" sz="1400" dirty="0"/>
          </a:p>
          <a:p>
            <a:pPr indent="0" marL="0">
              <a:buNone/>
            </a:pPr>
            <a:r>
              <a:rPr lang="en-US" sz="1400" dirty="0">
                <a:solidFill>
                  <a:schemeClr val="tx1"/>
                </a:solidFill>
              </a:rPr>
              <a:t>Kohavi, Tang, Xu (2020). Trustworthy Online Controlled Experiments. Cambridge University Press</a:t>
            </a:r>
            <a:endParaRPr lang="en-US" sz="1400" dirty="0"/>
          </a:p>
          <a:p>
            <a:pPr indent="0" marL="0">
              <a:spcAft>
                <a:spcPts val="1200"/>
              </a:spcAft>
              <a:buNone/>
            </a:pPr>
            <a:r>
              <a:rPr lang="en-US" sz="1400" dirty="0">
                <a:solidFill>
                  <a:schemeClr val="tx1"/>
                </a:solidFill>
              </a:rPr>
              <a:t>Udacity: A/B Testing by Google</a:t>
            </a:r>
            <a:endParaRPr lang="en-US" sz="1400" dirty="0"/>
          </a:p>
          <a:p>
            <a:pPr indent="0" marL="0">
              <a:buNone/>
            </a:pPr>
            <a:r>
              <a:rPr lang="en-US" sz="1400" b="1" dirty="0">
                <a:solidFill>
                  <a:schemeClr val="accent1"/>
                </a:solidFill>
              </a:rPr>
              <a:t>논문</a:t>
            </a:r>
            <a:endParaRPr lang="en-US" sz="1400" dirty="0"/>
          </a:p>
          <a:p>
            <a:pPr indent="0" marL="0">
              <a:buNone/>
            </a:pPr>
            <a:r>
              <a:rPr lang="en-US" sz="1400" dirty="0">
                <a:solidFill>
                  <a:schemeClr val="tx1"/>
                </a:solidFill>
              </a:rPr>
              <a:t>Kohavi et al. (2009). Controlled experiments on the web: survey and practical guide</a:t>
            </a:r>
            <a:endParaRPr lang="en-US" sz="1400" dirty="0"/>
          </a:p>
          <a:p>
            <a:pPr indent="0" marL="0">
              <a:buNone/>
            </a:pPr>
            <a:r>
              <a:rPr lang="en-US" sz="1400" dirty="0">
                <a:solidFill>
                  <a:schemeClr val="tx1"/>
                </a:solidFill>
              </a:rPr>
              <a:t>Deng et al. (2013). Improving the Sensitivity of Online Controlled Experiments by Utilizing Pre-Experiment Data. WSDM</a:t>
            </a:r>
            <a:endParaRPr lang="en-US" sz="1400" dirty="0"/>
          </a:p>
          <a:p>
            <a:pPr indent="0" marL="0">
              <a:spcAft>
                <a:spcPts val="1200"/>
              </a:spcAft>
              <a:buNone/>
            </a:pPr>
            <a:r>
              <a:rPr lang="en-US" sz="1400" dirty="0">
                <a:solidFill>
                  <a:schemeClr val="tx1"/>
                </a:solidFill>
              </a:rPr>
              <a:t>Kohavi &amp; Thomke (2017). The Surprising Power of Online Experiments. Harvard Business Review</a:t>
            </a:r>
            <a:endParaRPr lang="en-US" sz="1400" dirty="0"/>
          </a:p>
          <a:p>
            <a:pPr indent="0" marL="0">
              <a:buNone/>
            </a:pPr>
            <a:r>
              <a:rPr lang="en-US" sz="1400" b="1" dirty="0">
                <a:solidFill>
                  <a:schemeClr val="accent1"/>
                </a:solidFill>
              </a:rPr>
              <a:t>더 깊이</a:t>
            </a:r>
            <a:endParaRPr lang="en-US" sz="1400" dirty="0"/>
          </a:p>
          <a:p>
            <a:pPr indent="0" marL="0">
              <a:buNone/>
            </a:pPr>
            <a:r>
              <a:rPr lang="en-US" sz="1400" dirty="0">
                <a:solidFill>
                  <a:schemeClr val="tx1"/>
                </a:solidFill>
              </a:rPr>
              <a:t>Causal Inference for the Brave and True (무료 온라인북)</a:t>
            </a:r>
            <a:endParaRPr lang="en-US" sz="1400" dirty="0"/>
          </a:p>
          <a:p>
            <a:pPr indent="0" marL="0">
              <a:spcAft>
                <a:spcPts val="1200"/>
              </a:spcAft>
              <a:buNone/>
            </a:pPr>
            <a:r>
              <a:rPr lang="en-US" sz="1400" dirty="0">
                <a:solidFill>
                  <a:schemeClr val="tx1"/>
                </a:solidFill>
              </a:rPr>
              <a:t>Netflix Tech Blog, Uber Engineering, Eppo Blog, Statsig Blog · Evan Miller's A/B Test Calculator</a:t>
            </a:r>
            <a:endParaRPr lang="en-US" sz="1400" dirty="0"/>
          </a:p>
          <a:p>
            <a:pPr indent="0" marL="0">
              <a:buNone/>
            </a:pPr>
            <a:r>
              <a:rPr lang="en-US" sz="1400" b="1" dirty="0">
                <a:solidFill>
                  <a:schemeClr val="accent1"/>
                </a:solidFill>
              </a:rPr>
              <a:t>한국어</a:t>
            </a:r>
            <a:endParaRPr lang="en-US" sz="1400" dirty="0"/>
          </a:p>
          <a:p>
            <a:pPr indent="0" marL="0">
              <a:buNone/>
            </a:pPr>
            <a:r>
              <a:rPr lang="en-US" sz="1400" dirty="0">
                <a:solidFill>
                  <a:schemeClr val="tx1"/>
                </a:solidFill>
              </a:rPr>
              <a:t>데이터리안 "A/B 테스트란" → 데이터리안 YouTube → 토스 기술 블로그 "진짜 A/B 테스트"</a:t>
            </a:r>
            <a:endParaRPr lang="en-US" sz="1400" dirty="0"/>
          </a:p>
          <a:p>
            <a:pPr indent="0" marL="0">
              <a:buNone/>
            </a:pPr>
            <a:r>
              <a:rPr lang="en-US" sz="1400" dirty="0">
                <a:solidFill>
                  <a:schemeClr val="tx1"/>
                </a:solidFill>
              </a:rPr>
              <a:t>저장소 위키 docs/ab-testing: 01 왜 A/B 테스트 · 02 가설 수립 · 03 지표 설계 · 04 실험 플랫폼과 문화 · 05 실험 단위</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66</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2026-10-06T11:33:52Z</dcterms:created>
  <dcterms:modified xsi:type="dcterms:W3CDTF">2026-10-06T11:33:52Z</dcterms:modified>
</cp:coreProperties>
</file>